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1188720" cy="1188720"/>
          </a:xfrm>
          <a:prstGeom prst="roundRect">
            <a:avLst/>
          </a:prstGeom>
          <a:solidFill>
            <a:srgbClr val="006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200" b="1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3317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017"/>
                </a:solidFill>
                <a:latin typeface="JetBrains Mono"/>
              </a:rPr>
              <a:t>AUKSILKORRUPSIYA HACKATHON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69748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Inter"/>
              </a:rPr>
              <a:t>AuksionWatch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65760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E2E7EF"/>
                </a:solidFill>
                <a:latin typeface="Inter"/>
              </a:rPr>
              <a:t>E-AUKSION ochiq nazorat tizimi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41605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A1B1C9"/>
                </a:solidFill>
                <a:latin typeface="Inter"/>
              </a:rPr>
              <a:t>Davlat mol-mulki auksionlaridagi shubhali sxemalarni AI yordamida aniqlash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6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4A017"/>
                </a:solidFill>
                <a:latin typeface="JetBrains Mono"/>
              </a:rPr>
              <a:t>auksionwatch.uz · github.com/.../aksilkorupsiya2026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695" y="62179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E2E7EF"/>
                </a:solidFill>
                <a:latin typeface="JetBrains Mono"/>
              </a:rPr>
              <a:t>Toshkent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502920" cy="502920"/>
          </a:xfrm>
          <a:prstGeom prst="roundRect">
            <a:avLst/>
          </a:prstGeom>
          <a:solidFill>
            <a:srgbClr val="006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26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1D34"/>
                </a:solidFill>
                <a:latin typeface="Inter"/>
              </a:rPr>
              <a:t>AuksionWatch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E-AUKSION ochiq nazorat tizimi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017"/>
                </a:solidFill>
                <a:latin typeface="JetBrains Mono"/>
              </a:rPr>
              <a:t>MUAMMO · 1/10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E1D34"/>
                </a:solidFill>
                <a:latin typeface="Inter"/>
              </a:rPr>
              <a:t>130 mlrd so'mlik yer 120 mlrd ga sotildi.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68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C2626"/>
                </a:solidFill>
                <a:latin typeface="Inter"/>
              </a:rPr>
              <a:t>Va bu — mingdan biri.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383280"/>
            <a:ext cx="36118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3383280"/>
            <a:ext cx="91440" cy="2194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2044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DC2626"/>
                </a:solidFill>
                <a:latin typeface="Inter"/>
              </a:rPr>
              <a:t>130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605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1D34"/>
                </a:solidFill>
                <a:latin typeface="Inter"/>
              </a:rPr>
              <a:t>mlrd so'm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7200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565"/>
                </a:solidFill>
                <a:latin typeface="Inter"/>
              </a:rPr>
              <a:t>Ortiqov keysida
davlat zarari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3383280"/>
            <a:ext cx="36118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3383280"/>
            <a:ext cx="91440" cy="2194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52044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DC2626"/>
                </a:solidFill>
                <a:latin typeface="Inter"/>
              </a:rPr>
              <a:t>4.2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1605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1D34"/>
                </a:solidFill>
                <a:latin typeface="Inter"/>
              </a:rPr>
              <a:t>trln so'm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57200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565"/>
                </a:solidFill>
                <a:latin typeface="Inter"/>
              </a:rPr>
              <a:t>2026-yanvar prezident
bayonotidagi yillik zarar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3383280"/>
            <a:ext cx="36118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3383280"/>
            <a:ext cx="91440" cy="21945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52044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D4A017"/>
                </a:solidFill>
                <a:latin typeface="Inter"/>
              </a:rPr>
              <a:t>9 266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1605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1D34"/>
                </a:solidFill>
                <a:latin typeface="Inter"/>
              </a:rPr>
              <a:t>ta 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57200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565"/>
                </a:solidFill>
                <a:latin typeface="Inter"/>
              </a:rPr>
              <a:t>Faqat Fargʻonada — 81% i
3 odam qo'lida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5"/>
                </a:solidFill>
                <a:latin typeface="JetBrains Mono"/>
              </a:rPr>
              <a:t>OECD: davlat loyihalari qiymatining 20–30% i korrupsiyaga yo'qoladi.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auksionwatch.uz · CC BY-SA 4.0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4B5565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502920" cy="502920"/>
          </a:xfrm>
          <a:prstGeom prst="roundRect">
            <a:avLst/>
          </a:prstGeom>
          <a:solidFill>
            <a:srgbClr val="006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26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1D34"/>
                </a:solidFill>
                <a:latin typeface="Inter"/>
              </a:rPr>
              <a:t>AuksionWatch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E-AUKSION ochiq nazorat tizimi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61AF"/>
                </a:solidFill>
                <a:latin typeface="JetBrains Mono"/>
              </a:rPr>
              <a:t>YECHIM · 2/10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E1D34"/>
                </a:solidFill>
                <a:latin typeface="Inter"/>
              </a:rPr>
              <a:t>Civic AI — har bir auksion ochiq nazoratda.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688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B5565"/>
                </a:solidFill>
                <a:latin typeface="Inter"/>
              </a:rPr>
              <a:t>AuksionWatch e-auksion.uz dagi 23M+ lotni xalqaro standartlar (OECD, UNCAC, OCDS, FATF) asosida AI yordamida tahlil qilib, korrupsion sxemalarni ОLDINDAN aniqlaydi va fuqaroga, jurnalistga, NGO ga ochiq taqdim etadi.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657600"/>
            <a:ext cx="36118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6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3840480"/>
            <a:ext cx="457200" cy="457200"/>
          </a:xfrm>
          <a:prstGeom prst="roundRect">
            <a:avLst/>
          </a:prstGeom>
          <a:solidFill>
            <a:srgbClr val="006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8862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1D34"/>
                </a:solidFill>
                <a:latin typeface="Inter"/>
              </a:rPr>
              <a:t>Rule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7200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565"/>
                </a:solidFill>
                <a:latin typeface="Inter"/>
              </a:rPr>
              <a:t>OECD/Fazekas
18+ rule, izohlanadi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657600"/>
            <a:ext cx="36118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60" y="3840480"/>
            <a:ext cx="457200" cy="45720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38862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1D34"/>
                </a:solidFill>
                <a:latin typeface="Inter"/>
              </a:rPr>
              <a:t>ML Ensemble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57200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565"/>
                </a:solidFill>
                <a:latin typeface="Inter"/>
              </a:rPr>
              <a:t>XGBoost + IsoForest
CV AUC 0.98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3657600"/>
            <a:ext cx="36118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75320" y="3840480"/>
            <a:ext cx="45720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38862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1D34"/>
                </a:solidFill>
                <a:latin typeface="Inter"/>
              </a:rPr>
              <a:t>PEP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57200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565"/>
                </a:solidFill>
                <a:latin typeface="Inter"/>
              </a:rPr>
              <a:t>FATF R12
Mansabdor screening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760720"/>
            <a:ext cx="11338560" cy="640080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61AF"/>
                </a:solidFill>
                <a:latin typeface="JetBrains Mono"/>
              </a:rPr>
              <a:t>→ Web dashboard · Telegram bot · Public REST API + CSV/JSON eksport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auksionwatch.uz · CC BY-SA 4.0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4B5565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502920" cy="502920"/>
          </a:xfrm>
          <a:prstGeom prst="roundRect">
            <a:avLst/>
          </a:prstGeom>
          <a:solidFill>
            <a:srgbClr val="006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26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1D34"/>
                </a:solidFill>
                <a:latin typeface="Inter"/>
              </a:rPr>
              <a:t>AuksionWatch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E-AUKSION ochiq nazorat tizimi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017"/>
                </a:solidFill>
                <a:latin typeface="JetBrains Mono"/>
              </a:rPr>
              <a:t>BOZOR · 3/10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E1D34"/>
                </a:solidFill>
                <a:latin typeface="Inter"/>
              </a:rPr>
              <a:t>Bozor o'lchami va auditoriya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688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5"/>
                </a:solidFill>
                <a:latin typeface="Inter"/>
              </a:rPr>
              <a:t>TAM: e-auksion yillik aylanma · 2023: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346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0061AF"/>
                </a:solidFill>
                <a:latin typeface="Inter"/>
              </a:rPr>
              <a:t>19.7 trln so'm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931920"/>
            <a:ext cx="566928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93192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1D34"/>
                </a:solidFill>
                <a:latin typeface="Inter"/>
              </a:rPr>
              <a:t>Davlat organlari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0233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061AF"/>
                </a:solidFill>
                <a:latin typeface="JetBrains Mono"/>
              </a:rPr>
              <a:t>B2G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Aksilkorrupsiya agentligi,
Hisob Palatasi, Davaktiv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017"/>
                </a:solidFill>
                <a:latin typeface="JetBrains Mono"/>
              </a:rPr>
              <a:t>$50–500K/yil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931920"/>
            <a:ext cx="566928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93192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0233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1D34"/>
                </a:solidFill>
                <a:latin typeface="Inter"/>
              </a:rPr>
              <a:t>Mediya / NGO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8440" y="40233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061AF"/>
                </a:solidFill>
                <a:latin typeface="JetBrains Mono"/>
              </a:rPr>
              <a:t>B2B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8912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Kun.uz, Gazeta.uz, Spot.uz,
CABAR Asia, OCCRP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8006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017"/>
                </a:solidFill>
                <a:latin typeface="JetBrains Mono"/>
              </a:rPr>
              <a:t>$200–1K/oy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212080"/>
            <a:ext cx="566928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521208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03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1D34"/>
                </a:solidFill>
                <a:latin typeface="Inter"/>
              </a:rPr>
              <a:t>Donor grant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53035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061AF"/>
                </a:solidFill>
                <a:latin typeface="JetBrains Mono"/>
              </a:rPr>
              <a:t>Grant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66928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UNDP, USAID, EU,
World Bank, Soros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0807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017"/>
                </a:solidFill>
                <a:latin typeface="JetBrains Mono"/>
              </a:rPr>
              <a:t>$50K–2M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5212080"/>
            <a:ext cx="566928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521208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5303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1D34"/>
                </a:solidFill>
                <a:latin typeface="Inter"/>
              </a:rPr>
              <a:t>Korxona compliance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78440" y="53035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061AF"/>
                </a:solidFill>
                <a:latin typeface="JetBrains Mono"/>
              </a:rPr>
              <a:t>B2B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66928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Bank due-diligence,
yuridik firmalar, FDI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60807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017"/>
                </a:solidFill>
                <a:latin typeface="JetBrains Mono"/>
              </a:rPr>
              <a:t>$500/check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auksionwatch.uz · CC BY-SA 4.0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4B5565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502920" cy="502920"/>
          </a:xfrm>
          <a:prstGeom prst="roundRect">
            <a:avLst/>
          </a:prstGeom>
          <a:solidFill>
            <a:srgbClr val="006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26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1D34"/>
                </a:solidFill>
                <a:latin typeface="Inter"/>
              </a:rPr>
              <a:t>AuksionWatch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E-AUKSION ochiq nazorat tizimi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017"/>
                </a:solidFill>
                <a:latin typeface="JetBrains Mono"/>
              </a:rPr>
              <a:t>RAQOBATCHILAR · 4/10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E1D34"/>
                </a:solidFill>
                <a:latin typeface="Inter"/>
              </a:rPr>
              <a:t>Bizning noyob pozitsiya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51760"/>
            <a:ext cx="2743200" cy="384048"/>
          </a:xfrm>
          <a:prstGeom prst="rect">
            <a:avLst/>
          </a:prstGeom>
          <a:solidFill>
            <a:srgbClr val="0E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06624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JetBrains Mono"/>
              </a:rPr>
              <a:t>Funksiya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651760"/>
            <a:ext cx="2468880" cy="384048"/>
          </a:xfrm>
          <a:prstGeom prst="rect">
            <a:avLst/>
          </a:prstGeom>
          <a:solidFill>
            <a:srgbClr val="0E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706624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JetBrains Mono"/>
              </a:rPr>
              <a:t>e-anticor.uz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2651760"/>
            <a:ext cx="2468880" cy="384048"/>
          </a:xfrm>
          <a:prstGeom prst="rect">
            <a:avLst/>
          </a:prstGeom>
          <a:solidFill>
            <a:srgbClr val="0E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706624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JetBrains Mono"/>
              </a:rPr>
              <a:t>data.egov.uz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2651760"/>
            <a:ext cx="2743200" cy="384048"/>
          </a:xfrm>
          <a:prstGeom prst="rect">
            <a:avLst/>
          </a:prstGeom>
          <a:solidFill>
            <a:srgbClr val="0E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706624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JetBrains Mono"/>
              </a:rPr>
              <a:t>AuksionWatch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03580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090672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1D34"/>
                </a:solidFill>
                <a:latin typeface="Inter"/>
              </a:rPr>
              <a:t>Lot tahlili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3035808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090672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1D34"/>
                </a:solidFill>
                <a:latin typeface="Inter"/>
              </a:rPr>
              <a:t>Ichki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035808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090672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1D34"/>
                </a:solidFill>
                <a:latin typeface="Inter"/>
              </a:rPr>
              <a:t>Yo'q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3035808"/>
            <a:ext cx="2743200" cy="384048"/>
          </a:xfrm>
          <a:prstGeom prst="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3090672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61AF"/>
                </a:solidFill>
                <a:latin typeface="Inter"/>
              </a:rPr>
              <a:t>✓ 11K+ live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9856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474720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1D34"/>
                </a:solidFill>
                <a:latin typeface="Inter"/>
              </a:rPr>
              <a:t>Public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419856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3474720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1D34"/>
                </a:solidFill>
                <a:latin typeface="Inter"/>
              </a:rPr>
              <a:t>Yo'q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3419856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3474720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1D34"/>
                </a:solidFill>
                <a:latin typeface="Inter"/>
              </a:rPr>
              <a:t>Cheklangan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58200" y="3419856"/>
            <a:ext cx="2743200" cy="384048"/>
          </a:xfrm>
          <a:prstGeom prst="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3474720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61AF"/>
                </a:solidFill>
                <a:latin typeface="Inter"/>
              </a:rPr>
              <a:t>✓ Swagger + CSV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380390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858768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1D34"/>
                </a:solidFill>
                <a:latin typeface="Inter"/>
              </a:rPr>
              <a:t>AI / ML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3803904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0" y="3858768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1D34"/>
                </a:solidFill>
                <a:latin typeface="Inter"/>
              </a:rPr>
              <a:t>Yopiq tizim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3803904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3858768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1D34"/>
                </a:solidFill>
                <a:latin typeface="Inter"/>
              </a:rPr>
              <a:t>Yo'q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58200" y="3803904"/>
            <a:ext cx="2743200" cy="384048"/>
          </a:xfrm>
          <a:prstGeom prst="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0" y="3858768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61AF"/>
                </a:solidFill>
                <a:latin typeface="Inter"/>
              </a:rPr>
              <a:t>✓ XGB AUC 0.98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187952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242816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1D34"/>
                </a:solidFill>
                <a:latin typeface="Inter"/>
              </a:rPr>
              <a:t>Telegram bot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4187952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0" y="4242816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1D34"/>
                </a:solidFill>
                <a:latin typeface="Inter"/>
              </a:rPr>
              <a:t>Yo'q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89320" y="4187952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4242816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1D34"/>
                </a:solidFill>
                <a:latin typeface="Inter"/>
              </a:rPr>
              <a:t>Yo'q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58200" y="4187952"/>
            <a:ext cx="2743200" cy="384048"/>
          </a:xfrm>
          <a:prstGeom prst="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0" y="4242816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61AF"/>
                </a:solidFill>
                <a:latin typeface="Inter"/>
              </a:rPr>
              <a:t>✓ /check, /firma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457200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4626864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1D34"/>
                </a:solidFill>
                <a:latin typeface="Inter"/>
              </a:rPr>
              <a:t>PEP screening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4572000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0" y="4626864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1D34"/>
                </a:solidFill>
                <a:latin typeface="Inter"/>
              </a:rPr>
              <a:t>Ichki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89320" y="4572000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80" y="4626864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1D34"/>
                </a:solidFill>
                <a:latin typeface="Inter"/>
              </a:rPr>
              <a:t>Yo'q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58200" y="4572000"/>
            <a:ext cx="2743200" cy="384048"/>
          </a:xfrm>
          <a:prstGeom prst="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0" y="4626864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61AF"/>
                </a:solidFill>
                <a:latin typeface="Inter"/>
              </a:rPr>
              <a:t>✓ FATF R12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49560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5010912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1D34"/>
                </a:solidFill>
                <a:latin typeface="Inter"/>
              </a:rPr>
              <a:t>Open source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4956048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0" y="5010912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1D34"/>
                </a:solidFill>
                <a:latin typeface="Inter"/>
              </a:rPr>
              <a:t>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89320" y="4956048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5010912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1D34"/>
                </a:solidFill>
                <a:latin typeface="Inter"/>
              </a:rPr>
              <a:t>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58200" y="4956048"/>
            <a:ext cx="2743200" cy="384048"/>
          </a:xfrm>
          <a:prstGeom prst="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95360" y="5010912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61AF"/>
                </a:solidFill>
                <a:latin typeface="Inter"/>
              </a:rPr>
              <a:t>✓ CC BY-SA 4.0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7240" y="5340096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4400" y="5394960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1D34"/>
                </a:solidFill>
                <a:latin typeface="Inter"/>
              </a:rPr>
              <a:t>Foydalanuvchi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20440" y="5340096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0" y="5394960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1D34"/>
                </a:solidFill>
                <a:latin typeface="Inter"/>
              </a:rPr>
              <a:t>Davlat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89320" y="5340096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26480" y="5394960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1D34"/>
                </a:solidFill>
                <a:latin typeface="Inter"/>
              </a:rPr>
              <a:t>Davlat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58200" y="5340096"/>
            <a:ext cx="2743200" cy="384048"/>
          </a:xfrm>
          <a:prstGeom prst="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95360" y="5394960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61AF"/>
                </a:solidFill>
                <a:latin typeface="Inter"/>
              </a:rPr>
              <a:t>Fuqaro · Jurnalist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auksionwatch.uz · CC BY-SA 4.0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4B5565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502920" cy="502920"/>
          </a:xfrm>
          <a:prstGeom prst="roundRect">
            <a:avLst/>
          </a:prstGeom>
          <a:solidFill>
            <a:srgbClr val="006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26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1D34"/>
                </a:solidFill>
                <a:latin typeface="Inter"/>
              </a:rPr>
              <a:t>AuksionWatch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E-AUKSION ochiq nazorat tizimi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017"/>
                </a:solidFill>
                <a:latin typeface="JetBrains Mono"/>
              </a:rPr>
              <a:t>BIZNES MODEL · 5/10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E1D34"/>
                </a:solidFill>
                <a:latin typeface="Inter"/>
              </a:rPr>
              <a:t>Daromadning 4 oqimi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51760"/>
            <a:ext cx="113385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D4A017"/>
                </a:solidFill>
                <a:latin typeface="JetBrains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97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1D34"/>
                </a:solidFill>
                <a:latin typeface="Inter"/>
              </a:rPr>
              <a:t>Davlat kontraktlari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1752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Aksilkorrupsiya agentligi va Hisob Palatasi uchun audit asbob.
Ortikhov keysidan keyin ehtiyoj kuchli.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0" y="2880360"/>
            <a:ext cx="1188720" cy="320040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0" y="28986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61AF"/>
                </a:solidFill>
                <a:latin typeface="JetBrains Mono"/>
              </a:rPr>
              <a:t>B2G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520440"/>
            <a:ext cx="113385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68503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D4A017"/>
                </a:solidFill>
                <a:latin typeface="JetBrains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66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1D34"/>
                </a:solidFill>
                <a:latin typeface="Inter"/>
              </a:rPr>
              <a:t>Donor grantlari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8620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UNDP, USAID, EU, World Bank — anti-corruption / open data programs.
Ukraine ProZorro $5M+ olgan.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0" y="3749040"/>
            <a:ext cx="1188720" cy="320040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0" y="37673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61AF"/>
                </a:solidFill>
                <a:latin typeface="JetBrains Mono"/>
              </a:rPr>
              <a:t>Grant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389120"/>
            <a:ext cx="113385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55371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D4A017"/>
                </a:solidFill>
                <a:latin typeface="JetBrains Mono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348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1D34"/>
                </a:solidFill>
                <a:latin typeface="Inter"/>
              </a:rPr>
              <a:t>Media / NGO subscription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5488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Jurnalist va tergov NGO uchun premium API + alert.
Hozir bepul, kelgusida $200–1K/oy.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0" y="4617720"/>
            <a:ext cx="1188720" cy="320040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0" y="463600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61AF"/>
                </a:solidFill>
                <a:latin typeface="JetBrains Mono"/>
              </a:rPr>
              <a:t>B2B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5257799"/>
            <a:ext cx="113385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422391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D4A017"/>
                </a:solidFill>
                <a:latin typeface="JetBrains Mono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30351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1D34"/>
                </a:solidFill>
                <a:latin typeface="Inter"/>
              </a:rPr>
              <a:t>Compliance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623559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Bank, yuridik firma, FDI investor uchun firma tekshirish.
API kalit, $500/raport.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0" y="5486399"/>
            <a:ext cx="1188720" cy="320040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0" y="5504687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61AF"/>
                </a:solidFill>
                <a:latin typeface="JetBrains Mono"/>
              </a:rPr>
              <a:t>B2B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auksionwatch.uz · CC BY-SA 4.0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4B5565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502920" cy="502920"/>
          </a:xfrm>
          <a:prstGeom prst="roundRect">
            <a:avLst/>
          </a:prstGeom>
          <a:solidFill>
            <a:srgbClr val="006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26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1D34"/>
                </a:solidFill>
                <a:latin typeface="Inter"/>
              </a:rPr>
              <a:t>AuksionWatch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E-AUKSION ochiq nazorat tizimi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47857"/>
                </a:solidFill>
                <a:latin typeface="JetBrains Mono"/>
              </a:rPr>
              <a:t>HOLAT · 6/10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E1D34"/>
                </a:solidFill>
                <a:latin typeface="Inter"/>
              </a:rPr>
              <a:t>MVP live · 11,204 lot tahlilda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51760"/>
            <a:ext cx="269748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651760"/>
            <a:ext cx="54864" cy="1097280"/>
          </a:xfrm>
          <a:prstGeom prst="rect">
            <a:avLst/>
          </a:prstGeom>
          <a:solidFill>
            <a:srgbClr val="006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2468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61AF"/>
                </a:solidFill>
                <a:latin typeface="JetBrains Mono"/>
              </a:rPr>
              <a:t>11,204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375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Real lot DB'da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651760"/>
            <a:ext cx="269748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2651760"/>
            <a:ext cx="54864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743200"/>
            <a:ext cx="2468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DC2626"/>
                </a:solidFill>
                <a:latin typeface="JetBrains Mono"/>
              </a:rPr>
              <a:t>6,784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3375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Yuqori xavfli aniqlandi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651760"/>
            <a:ext cx="269748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651760"/>
            <a:ext cx="54864" cy="10972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743200"/>
            <a:ext cx="2468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D4A017"/>
                </a:solidFill>
                <a:latin typeface="JetBrains Mono"/>
              </a:rPr>
              <a:t>186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375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ML KRITIK (top 2%)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2651760"/>
            <a:ext cx="269748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59" y="2651760"/>
            <a:ext cx="54864" cy="1097280"/>
          </a:xfrm>
          <a:prstGeom prst="rect">
            <a:avLst/>
          </a:prstGeom>
          <a:solidFill>
            <a:srgbClr val="006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39" y="2743200"/>
            <a:ext cx="2468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61AF"/>
                </a:solidFill>
                <a:latin typeface="JetBrains Mono"/>
              </a:rPr>
              <a:t>9 266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39" y="33375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Fargʻona Excel ingest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931920"/>
            <a:ext cx="269748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931920"/>
            <a:ext cx="54864" cy="1097280"/>
          </a:xfrm>
          <a:prstGeom prst="rect">
            <a:avLst/>
          </a:prstGeom>
          <a:solidFill>
            <a:srgbClr val="006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023360"/>
            <a:ext cx="2468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61AF"/>
                </a:solidFill>
                <a:latin typeface="JetBrains Mono"/>
              </a:rPr>
              <a:t>1 938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6177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API real-time scrape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3931920"/>
            <a:ext cx="269748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0" y="3931920"/>
            <a:ext cx="54864" cy="10972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4023360"/>
            <a:ext cx="2468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D4A017"/>
                </a:solidFill>
                <a:latin typeface="JetBrains Mono"/>
              </a:rPr>
              <a:t>18+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6177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Active red-flag rule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931920"/>
            <a:ext cx="269748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3931920"/>
            <a:ext cx="54864" cy="10972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4023360"/>
            <a:ext cx="2468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47857"/>
                </a:solidFill>
                <a:latin typeface="JetBrains Mono"/>
              </a:rPr>
              <a:t>0.98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6177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XGBoost CV AUC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2559" y="3931920"/>
            <a:ext cx="269748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52559" y="3931920"/>
            <a:ext cx="54864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39" y="4023360"/>
            <a:ext cx="2468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DC2626"/>
                </a:solidFill>
                <a:latin typeface="JetBrains Mono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39" y="46177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PEP watchlist'da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5440680"/>
            <a:ext cx="11338560" cy="914400"/>
          </a:xfrm>
          <a:prstGeom prst="roundRect">
            <a:avLst/>
          </a:prstGeom>
          <a:solidFill>
            <a:srgbClr val="0E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017"/>
                </a:solidFill>
                <a:latin typeface="JetBrains Mono"/>
              </a:rPr>
              <a:t>LIVE PRODUCTION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JetBrains Mono"/>
              </a:rPr>
              <a:t>aksilkorrupsiya2026.up.railway.app  ·  Railway: backend + Postgres + frontend deployed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auksionwatch.uz · CC BY-SA 4.0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4B5565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502920" cy="502920"/>
          </a:xfrm>
          <a:prstGeom prst="roundRect">
            <a:avLst/>
          </a:prstGeom>
          <a:solidFill>
            <a:srgbClr val="006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26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1D34"/>
                </a:solidFill>
                <a:latin typeface="Inter"/>
              </a:rPr>
              <a:t>AuksionWatch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E-AUKSION ochiq nazorat tizimi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017"/>
                </a:solidFill>
                <a:latin typeface="JetBrains Mono"/>
              </a:rPr>
              <a:t>METODOLOGIYA · 7/10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E1D34"/>
                </a:solidFill>
                <a:latin typeface="Inter"/>
              </a:rPr>
              <a:t>5 OECD/OCP toifasi · 2 qatlamli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51760"/>
            <a:ext cx="219456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2834640"/>
            <a:ext cx="457200" cy="45720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8328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1D34"/>
                </a:solidFill>
                <a:latin typeface="Inter"/>
              </a:rPr>
              <a:t>Past shaffoflik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94760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yopiq auksion, qisqa muddat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651760"/>
            <a:ext cx="219456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26080" y="2834640"/>
            <a:ext cx="457200" cy="457200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290779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8328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1D34"/>
                </a:solidFill>
                <a:latin typeface="Inter"/>
              </a:rPr>
              <a:t>Kelishuv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794760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monopol sotuvchi, PEP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2651760"/>
            <a:ext cx="219456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57800" y="2834640"/>
            <a:ext cx="45720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290779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338328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1D34"/>
                </a:solidFill>
                <a:latin typeface="Inter"/>
              </a:rPr>
              <a:t>Bid-rigging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794760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1 ishtirokchi, takror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2651760"/>
            <a:ext cx="219456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0" y="2834640"/>
            <a:ext cx="457200" cy="457200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290779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38328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1D34"/>
                </a:solidFill>
                <a:latin typeface="Inter"/>
              </a:rPr>
              <a:t>Firibgarlik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794760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past baho, diskont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38359" y="2651760"/>
            <a:ext cx="219456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921239" y="2834640"/>
            <a:ext cx="457200" cy="45720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39" y="290779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39" y="338328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1D34"/>
                </a:solidFill>
                <a:latin typeface="Inter"/>
              </a:rPr>
              <a:t>Past raqobat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39" y="3794760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regional dominance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937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017"/>
                </a:solidFill>
                <a:latin typeface="JetBrains Mono"/>
              </a:rPr>
              <a:t>TECHNOLOGY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5303520"/>
            <a:ext cx="2697480" cy="411480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37667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61AF"/>
                </a:solidFill>
                <a:latin typeface="JetBrains Mono"/>
              </a:rPr>
              <a:t>Python · FastAPI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5303520"/>
            <a:ext cx="2697480" cy="411480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29000" y="537667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61AF"/>
                </a:solidFill>
                <a:latin typeface="JetBrains Mono"/>
              </a:rPr>
              <a:t>Next.js · React 19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5303520"/>
            <a:ext cx="2697480" cy="411480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537667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61AF"/>
                </a:solidFill>
                <a:latin typeface="JetBrains Mono"/>
              </a:rPr>
              <a:t>PostgreSQL · SQLite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59" y="5303520"/>
            <a:ext cx="2697480" cy="411480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19" y="537667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61AF"/>
                </a:solidFill>
                <a:latin typeface="JetBrains Mono"/>
              </a:rPr>
              <a:t>XGBoost · Scikit-learn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5806440"/>
            <a:ext cx="2697480" cy="411480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87959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61AF"/>
                </a:solidFill>
                <a:latin typeface="JetBrains Mono"/>
              </a:rPr>
              <a:t>Playwright · httpx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1840" y="5806440"/>
            <a:ext cx="2697480" cy="411480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29000" y="587959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61AF"/>
                </a:solidFill>
                <a:latin typeface="JetBrains Mono"/>
              </a:rPr>
              <a:t>Tailwind · Recharts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2200" y="5806440"/>
            <a:ext cx="2697480" cy="411480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587959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61AF"/>
                </a:solidFill>
                <a:latin typeface="JetBrains Mono"/>
              </a:rPr>
              <a:t>Telegram · aiogram 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559" y="5806440"/>
            <a:ext cx="2697480" cy="411480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89719" y="587959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61AF"/>
                </a:solidFill>
                <a:latin typeface="JetBrains Mono"/>
              </a:rPr>
              <a:t>Railway · GitHub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auksionwatch.uz · CC BY-SA 4.0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4B5565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502920" cy="502920"/>
          </a:xfrm>
          <a:prstGeom prst="roundRect">
            <a:avLst/>
          </a:prstGeom>
          <a:solidFill>
            <a:srgbClr val="006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26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1D34"/>
                </a:solidFill>
                <a:latin typeface="Inter"/>
              </a:rPr>
              <a:t>AuksionWatch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E-AUKSION ochiq nazorat tizimi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017"/>
                </a:solidFill>
                <a:latin typeface="JetBrains Mono"/>
              </a:rPr>
              <a:t>JAMOA · 8/10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E1D34"/>
                </a:solidFill>
                <a:latin typeface="Inter"/>
              </a:rPr>
              <a:t>4 mutaxassis · 8 soat MVP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51760"/>
            <a:ext cx="566928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651760"/>
            <a:ext cx="91440" cy="1554480"/>
          </a:xfrm>
          <a:prstGeom prst="rect">
            <a:avLst/>
          </a:prstGeom>
          <a:solidFill>
            <a:srgbClr val="006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926080"/>
            <a:ext cx="731520" cy="731520"/>
          </a:xfrm>
          <a:prstGeom prst="roundRect">
            <a:avLst/>
          </a:prstGeom>
          <a:solidFill>
            <a:srgbClr val="006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8803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1D34"/>
                </a:solidFill>
                <a:latin typeface="Inter"/>
              </a:rPr>
              <a:t>Backend 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2461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61AF"/>
                </a:solidFill>
                <a:latin typeface="JetBrains Mono"/>
              </a:rPr>
              <a:t>FastAPI · Postgres · Risk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61188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11,204 lot ingest, 18+ rule, OECD taksonomiya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651760"/>
            <a:ext cx="566928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651760"/>
            <a:ext cx="91440" cy="1554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2926080"/>
            <a:ext cx="731520" cy="73152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8803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1D34"/>
                </a:solidFill>
                <a:latin typeface="Inter"/>
              </a:rPr>
              <a:t>Frontend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2461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61AF"/>
                </a:solidFill>
                <a:latin typeface="JetBrains Mono"/>
              </a:rPr>
              <a:t>Next.js · Tailwind · Leaflet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61188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8 sahifa, dark mode, PDF export, my.gov.uz dizayn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343400"/>
            <a:ext cx="566928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343400"/>
            <a:ext cx="91440" cy="1554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4617720"/>
            <a:ext cx="731520" cy="7315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75488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5720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1D34"/>
                </a:solidFill>
                <a:latin typeface="Inter"/>
              </a:rPr>
              <a:t>ML Engineer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937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61AF"/>
                </a:solidFill>
                <a:latin typeface="JetBrains Mono"/>
              </a:rPr>
              <a:t>XGBoost · IsolationForest · Pandas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30352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33 feature, CV AUC 0.98, weak-supervised pipeline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343400"/>
            <a:ext cx="566928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343400"/>
            <a:ext cx="91440" cy="15544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37960" y="4617720"/>
            <a:ext cx="731520" cy="7315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75488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45720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1D34"/>
                </a:solidFill>
                <a:latin typeface="Inter"/>
              </a:rPr>
              <a:t>Designer / PM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4937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61AF"/>
                </a:solidFill>
                <a:latin typeface="JetBrains Mono"/>
              </a:rPr>
              <a:t>Pitch · UX · Methodology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530352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5 toifa OECD, chetel research, demo skripti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auksionwatch.uz · CC BY-SA 4.0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4B5565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502920" cy="502920"/>
          </a:xfrm>
          <a:prstGeom prst="roundRect">
            <a:avLst/>
          </a:prstGeom>
          <a:solidFill>
            <a:srgbClr val="006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26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1D34"/>
                </a:solidFill>
                <a:latin typeface="Inter"/>
              </a:rPr>
              <a:t>AuksionWatch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E-AUKSION ochiq nazorat tizimi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017"/>
                </a:solidFill>
                <a:latin typeface="JetBrains Mono"/>
              </a:rPr>
              <a:t>REJA · 9/10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E1D34"/>
                </a:solidFill>
                <a:latin typeface="Inter"/>
              </a:rPr>
              <a:t>Yo'l xaritasi va so'rov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06040"/>
            <a:ext cx="68580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017"/>
                </a:solidFill>
                <a:latin typeface="JetBrains Mono"/>
              </a:rPr>
              <a:t>Q2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6974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1D34"/>
                </a:solidFill>
                <a:latin typeface="Inter"/>
              </a:rPr>
              <a:t>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72491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11K lot, 5 toifa, ML ensemble, Railway 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200400"/>
            <a:ext cx="68580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9184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61AF"/>
                </a:solidFill>
                <a:latin typeface="JetBrains Mono"/>
              </a:rPr>
              <a:t>Q3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2918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1D34"/>
                </a:solidFill>
                <a:latin typeface="Inter"/>
              </a:rPr>
              <a:t>v2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31927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5K → 100K lot · NetworkX graf · OpenSanctions PEP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794760"/>
            <a:ext cx="68580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8862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61AF"/>
                </a:solidFill>
                <a:latin typeface="JetBrains Mono"/>
              </a:rPr>
              <a:t>Q4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886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1D34"/>
                </a:solidFill>
                <a:latin typeface="Inter"/>
              </a:rPr>
              <a:t>Cross-platform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91363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xarid.uzex · regulation.gov · decisions.esud integratsiya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389120"/>
            <a:ext cx="68580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4805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61AF"/>
                </a:solidFill>
                <a:latin typeface="JetBrains Mono"/>
              </a:rPr>
              <a:t>Q1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4805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1D34"/>
                </a:solidFill>
                <a:latin typeface="Inter"/>
              </a:rPr>
              <a:t>v3 Mobile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50799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iOS/Android ilova · push alert · whistleblower form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983480"/>
            <a:ext cx="68580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07492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47857"/>
                </a:solidFill>
                <a:latin typeface="JetBrains Mono"/>
              </a:rPr>
              <a:t>2027+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0749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1D34"/>
                </a:solidFill>
                <a:latin typeface="Inter"/>
              </a:rPr>
              <a:t>Halqaro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10235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OCDS Cardinal hamkorligi · UN SDG 16 · EU GPA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2606040"/>
            <a:ext cx="4206240" cy="3474720"/>
          </a:xfrm>
          <a:prstGeom prst="roundRect">
            <a:avLst/>
          </a:prstGeom>
          <a:solidFill>
            <a:srgbClr val="0E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2743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017"/>
                </a:solidFill>
                <a:latin typeface="JetBrains Mono"/>
              </a:rPr>
              <a:t>BIZGA KERAK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2004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JetBrains Mono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2004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$50K seed grant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JetBrains Mono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OpenSanctions API kreditlari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2062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JetBrains Mono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2062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Davlat hamkorlik (NDA)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47091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JetBrains Mono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7091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OCCRP / CABAR mentor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5212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JetBrains Mono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5212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Server resurs (Railway / VPS)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auksionwatch.uz · CC BY-SA 4.0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4B5565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502920" cy="502920"/>
          </a:xfrm>
          <a:prstGeom prst="roundRect">
            <a:avLst/>
          </a:prstGeom>
          <a:solidFill>
            <a:srgbClr val="006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26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1D34"/>
                </a:solidFill>
                <a:latin typeface="Inter"/>
              </a:rPr>
              <a:t>AuksionWatch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E-AUKSION ochiq nazorat tizimi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47857"/>
                </a:solidFill>
                <a:latin typeface="JetBrains Mono"/>
              </a:rPr>
              <a:t>DELILLAR · 10/10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E1D34"/>
                </a:solidFill>
                <a:latin typeface="Inter"/>
              </a:rPr>
              <a:t>Xalqaro tajriba: bu yo'l ishlaydi.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51760"/>
            <a:ext cx="113385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1635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0E1D34"/>
                </a:solidFill>
                <a:latin typeface="Inter"/>
              </a:rPr>
              <a:t>🇺🇦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974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1D34"/>
                </a:solidFill>
                <a:latin typeface="Inter"/>
              </a:rPr>
              <a:t>Ukraine ProZorro + DOZORRO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1752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Open-source civic AI, 2014-dan beri. Bizning eng yaqin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8529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047857"/>
                </a:solidFill>
                <a:latin typeface="JetBrains Mono"/>
              </a:rPr>
              <a:t>$6 mlrd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520439"/>
            <a:ext cx="113385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85031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0E1D34"/>
                </a:solidFill>
                <a:latin typeface="Inter"/>
              </a:rPr>
              <a:t>🇧🇷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66159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1D34"/>
                </a:solidFill>
                <a:latin typeface="Inter"/>
              </a:rPr>
              <a:t>Brazil ALICE (TCU)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886199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AI tender risk pre-detection, 2017-dan. 139,566 tender/yil tahlil.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721607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047857"/>
                </a:solidFill>
                <a:latin typeface="JetBrains Mono"/>
              </a:rPr>
              <a:t>EUR 35M+/yil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389120"/>
            <a:ext cx="113385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5371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0E1D34"/>
                </a:solidFill>
                <a:latin typeface="Inter"/>
              </a:rPr>
              <a:t>🇨🇿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348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1D34"/>
                </a:solidFill>
                <a:latin typeface="Inter"/>
              </a:rPr>
              <a:t>Czech zIndex.cz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5488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Hokimliklar shaffoflik reytingi. Yuqori reytingli organlar har tenderda 5% kam to'laydi.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59028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047857"/>
                </a:solidFill>
                <a:latin typeface="JetBrains Mono"/>
              </a:rPr>
              <a:t>−5% xarajat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5257800"/>
            <a:ext cx="113385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42239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0E1D34"/>
                </a:solidFill>
                <a:latin typeface="Inter"/>
              </a:rPr>
              <a:t>🇸🇰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0352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1D34"/>
                </a:solidFill>
                <a:latin typeface="Inter"/>
              </a:rPr>
              <a:t>Slovakia Open Tender (2011)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62356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Barcha shartnomalar majburiy ravishda ochiq. 2% → 50% elektron, +1 ishtirokchi.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545896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047857"/>
                </a:solidFill>
                <a:latin typeface="JetBrains Mono"/>
              </a:rPr>
              <a:t>−2-3% narx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Akademik asos: Mihály Fazekas (Cambridge/ERCAS) — Single Bidder Indicator (CRI),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465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5"/>
                </a:solidFill>
                <a:latin typeface="Inter"/>
              </a:rPr>
              <a:t>OECD Anti-Corruption Outlook 2026, World Bank IACRC, Open Contracting Cardinal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5"/>
                </a:solidFill>
                <a:latin typeface="Inter"/>
              </a:rPr>
              <a:t>auksionwatch.uz · CC BY-SA 4.0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4B5565"/>
                </a:solidFill>
                <a:latin typeface="JetBrain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94960" y="1097280"/>
            <a:ext cx="1371600" cy="1371600"/>
          </a:xfrm>
          <a:prstGeom prst="roundRect">
            <a:avLst/>
          </a:prstGeom>
          <a:solidFill>
            <a:srgbClr val="006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Inter"/>
              </a:rPr>
              <a:t>Rahmat!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D4A017"/>
                </a:solidFill>
                <a:latin typeface="Inter"/>
              </a:rPr>
              <a:t>Har bir auksion ochiq nazoratda bo'lsin.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aksilkorrupsiya2026.up.railway.app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2E7EF"/>
                </a:solidFill>
                <a:latin typeface="JetBrains Mono"/>
              </a:rPr>
              <a:t>github.com/testuchunmaxsus/aksilkorupsiya2026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937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2E7EF"/>
                </a:solidFill>
                <a:latin typeface="JetBrains Mono"/>
              </a:rPr>
              <a:t>Telegram: @AuksionWatch_bot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6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4A017"/>
                </a:solidFill>
                <a:latin typeface="JetBrains Mono"/>
              </a:rPr>
              <a:t>OECD · UNCAC · OCDS · FATF R12  ·  CC BY-SA 4.0  ·  Toshkent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